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61" r:id="rId3"/>
    <p:sldId id="262" r:id="rId4"/>
    <p:sldId id="259" r:id="rId5"/>
    <p:sldId id="260" r:id="rId6"/>
    <p:sldId id="263" r:id="rId7"/>
    <p:sldId id="264" r:id="rId8"/>
    <p:sldId id="257" r:id="rId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5" d="100"/>
          <a:sy n="105" d="100"/>
        </p:scale>
        <p:origin x="798"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3E3CEEB-AA81-45F6-8321-288900D3C3DA}" type="doc">
      <dgm:prSet loTypeId="urn:microsoft.com/office/officeart/2008/layout/LinedList" loCatId="list" qsTypeId="urn:microsoft.com/office/officeart/2005/8/quickstyle/simple4" qsCatId="simple" csTypeId="urn:microsoft.com/office/officeart/2005/8/colors/colorful5" csCatId="colorful"/>
      <dgm:spPr/>
      <dgm:t>
        <a:bodyPr/>
        <a:lstStyle/>
        <a:p>
          <a:endParaRPr lang="en-US"/>
        </a:p>
      </dgm:t>
    </dgm:pt>
    <dgm:pt modelId="{D1A007B4-BCD9-433F-B326-742A415A9938}">
      <dgm:prSet/>
      <dgm:spPr/>
      <dgm:t>
        <a:bodyPr/>
        <a:lstStyle/>
        <a:p>
          <a:r>
            <a:rPr lang="en-IN"/>
            <a:t>Google Gemini 2.5 Flash (LLM)</a:t>
          </a:r>
          <a:endParaRPr lang="en-US"/>
        </a:p>
      </dgm:t>
    </dgm:pt>
    <dgm:pt modelId="{767BE08C-6931-4032-ADED-413D9878F083}" type="parTrans" cxnId="{95C02675-65CB-49DC-8C32-53C01D1F87BF}">
      <dgm:prSet/>
      <dgm:spPr/>
      <dgm:t>
        <a:bodyPr/>
        <a:lstStyle/>
        <a:p>
          <a:endParaRPr lang="en-US"/>
        </a:p>
      </dgm:t>
    </dgm:pt>
    <dgm:pt modelId="{BDA3424F-835D-4A66-A07C-E66DC0D8A6D9}" type="sibTrans" cxnId="{95C02675-65CB-49DC-8C32-53C01D1F87BF}">
      <dgm:prSet/>
      <dgm:spPr/>
      <dgm:t>
        <a:bodyPr/>
        <a:lstStyle/>
        <a:p>
          <a:endParaRPr lang="en-US"/>
        </a:p>
      </dgm:t>
    </dgm:pt>
    <dgm:pt modelId="{A11BDD1E-305D-4027-9BB1-FD7AD85A3F78}">
      <dgm:prSet/>
      <dgm:spPr/>
      <dgm:t>
        <a:bodyPr/>
        <a:lstStyle/>
        <a:p>
          <a:r>
            <a:rPr lang="en-IN"/>
            <a:t>Python</a:t>
          </a:r>
          <a:endParaRPr lang="en-US"/>
        </a:p>
      </dgm:t>
    </dgm:pt>
    <dgm:pt modelId="{055A379F-33F3-452A-A1A4-B0A6F4479D77}" type="parTrans" cxnId="{013765FC-AF65-4AEF-8EF3-6FB2B12B3410}">
      <dgm:prSet/>
      <dgm:spPr/>
      <dgm:t>
        <a:bodyPr/>
        <a:lstStyle/>
        <a:p>
          <a:endParaRPr lang="en-US"/>
        </a:p>
      </dgm:t>
    </dgm:pt>
    <dgm:pt modelId="{2A01DF55-B517-4D72-9C57-6AA7F6C18607}" type="sibTrans" cxnId="{013765FC-AF65-4AEF-8EF3-6FB2B12B3410}">
      <dgm:prSet/>
      <dgm:spPr/>
      <dgm:t>
        <a:bodyPr/>
        <a:lstStyle/>
        <a:p>
          <a:endParaRPr lang="en-US"/>
        </a:p>
      </dgm:t>
    </dgm:pt>
    <dgm:pt modelId="{FAD2FA6A-B95E-4C3E-AFF6-CCE9223EC8D6}">
      <dgm:prSet/>
      <dgm:spPr/>
      <dgm:t>
        <a:bodyPr/>
        <a:lstStyle/>
        <a:p>
          <a:r>
            <a:rPr lang="en-IN" dirty="0"/>
            <a:t>Streamlit</a:t>
          </a:r>
          <a:endParaRPr lang="en-US" dirty="0"/>
        </a:p>
      </dgm:t>
    </dgm:pt>
    <dgm:pt modelId="{CC6D1B19-6A85-4A84-AF49-63D262F1D031}" type="parTrans" cxnId="{4528F6B9-8FD1-4B88-A4E2-752AF6BF3F68}">
      <dgm:prSet/>
      <dgm:spPr/>
      <dgm:t>
        <a:bodyPr/>
        <a:lstStyle/>
        <a:p>
          <a:endParaRPr lang="en-US"/>
        </a:p>
      </dgm:t>
    </dgm:pt>
    <dgm:pt modelId="{7A992D12-4C51-44EF-B029-BCBE5E6C4A78}" type="sibTrans" cxnId="{4528F6B9-8FD1-4B88-A4E2-752AF6BF3F68}">
      <dgm:prSet/>
      <dgm:spPr/>
      <dgm:t>
        <a:bodyPr/>
        <a:lstStyle/>
        <a:p>
          <a:endParaRPr lang="en-US"/>
        </a:p>
      </dgm:t>
    </dgm:pt>
    <dgm:pt modelId="{524F1E47-12E6-4356-B344-5A6CD719D741}">
      <dgm:prSet/>
      <dgm:spPr/>
      <dgm:t>
        <a:bodyPr/>
        <a:lstStyle/>
        <a:p>
          <a:r>
            <a:rPr lang="en-IN" dirty="0"/>
            <a:t>Google GenAI SDK</a:t>
          </a:r>
          <a:endParaRPr lang="en-US" dirty="0"/>
        </a:p>
      </dgm:t>
    </dgm:pt>
    <dgm:pt modelId="{3881208F-1334-4FB3-917B-AB96E499C57F}" type="parTrans" cxnId="{D176E4CD-90DE-41DC-93BA-BEE8AC0A4997}">
      <dgm:prSet/>
      <dgm:spPr/>
      <dgm:t>
        <a:bodyPr/>
        <a:lstStyle/>
        <a:p>
          <a:endParaRPr lang="en-US"/>
        </a:p>
      </dgm:t>
    </dgm:pt>
    <dgm:pt modelId="{A8FE1A9E-6A8D-4125-806D-8ACE93DD07B9}" type="sibTrans" cxnId="{D176E4CD-90DE-41DC-93BA-BEE8AC0A4997}">
      <dgm:prSet/>
      <dgm:spPr/>
      <dgm:t>
        <a:bodyPr/>
        <a:lstStyle/>
        <a:p>
          <a:endParaRPr lang="en-US"/>
        </a:p>
      </dgm:t>
    </dgm:pt>
    <dgm:pt modelId="{940EA5E9-A07A-4B8B-BFFB-52E4BC2CA2BC}" type="pres">
      <dgm:prSet presAssocID="{83E3CEEB-AA81-45F6-8321-288900D3C3DA}" presName="vert0" presStyleCnt="0">
        <dgm:presLayoutVars>
          <dgm:dir/>
          <dgm:animOne val="branch"/>
          <dgm:animLvl val="lvl"/>
        </dgm:presLayoutVars>
      </dgm:prSet>
      <dgm:spPr/>
    </dgm:pt>
    <dgm:pt modelId="{3E488B90-ADF9-4B08-AEBC-4A026A2F0663}" type="pres">
      <dgm:prSet presAssocID="{D1A007B4-BCD9-433F-B326-742A415A9938}" presName="thickLine" presStyleLbl="alignNode1" presStyleIdx="0" presStyleCnt="4"/>
      <dgm:spPr/>
    </dgm:pt>
    <dgm:pt modelId="{547FF2E7-1B48-4C79-9E60-E16BC9DEA75C}" type="pres">
      <dgm:prSet presAssocID="{D1A007B4-BCD9-433F-B326-742A415A9938}" presName="horz1" presStyleCnt="0"/>
      <dgm:spPr/>
    </dgm:pt>
    <dgm:pt modelId="{EAD22B22-B3E5-4225-92D1-21F3D1F5DC41}" type="pres">
      <dgm:prSet presAssocID="{D1A007B4-BCD9-433F-B326-742A415A9938}" presName="tx1" presStyleLbl="revTx" presStyleIdx="0" presStyleCnt="4"/>
      <dgm:spPr/>
    </dgm:pt>
    <dgm:pt modelId="{9E5E8C0A-5506-4562-BFD8-90F7AB69C594}" type="pres">
      <dgm:prSet presAssocID="{D1A007B4-BCD9-433F-B326-742A415A9938}" presName="vert1" presStyleCnt="0"/>
      <dgm:spPr/>
    </dgm:pt>
    <dgm:pt modelId="{60CD2D25-980F-45D6-9C06-64E946BCB45B}" type="pres">
      <dgm:prSet presAssocID="{A11BDD1E-305D-4027-9BB1-FD7AD85A3F78}" presName="thickLine" presStyleLbl="alignNode1" presStyleIdx="1" presStyleCnt="4"/>
      <dgm:spPr/>
    </dgm:pt>
    <dgm:pt modelId="{455CDFA4-9FF9-46BD-AFC6-8BD2041212B7}" type="pres">
      <dgm:prSet presAssocID="{A11BDD1E-305D-4027-9BB1-FD7AD85A3F78}" presName="horz1" presStyleCnt="0"/>
      <dgm:spPr/>
    </dgm:pt>
    <dgm:pt modelId="{1564B6D5-9672-499F-816C-A40DA5FCA5D0}" type="pres">
      <dgm:prSet presAssocID="{A11BDD1E-305D-4027-9BB1-FD7AD85A3F78}" presName="tx1" presStyleLbl="revTx" presStyleIdx="1" presStyleCnt="4"/>
      <dgm:spPr/>
    </dgm:pt>
    <dgm:pt modelId="{60A223C6-7DE4-4D36-88DB-2B5383465D04}" type="pres">
      <dgm:prSet presAssocID="{A11BDD1E-305D-4027-9BB1-FD7AD85A3F78}" presName="vert1" presStyleCnt="0"/>
      <dgm:spPr/>
    </dgm:pt>
    <dgm:pt modelId="{6A835DD9-A8CD-44C5-838B-449EEB3AF36F}" type="pres">
      <dgm:prSet presAssocID="{FAD2FA6A-B95E-4C3E-AFF6-CCE9223EC8D6}" presName="thickLine" presStyleLbl="alignNode1" presStyleIdx="2" presStyleCnt="4"/>
      <dgm:spPr/>
    </dgm:pt>
    <dgm:pt modelId="{FE584CE2-721E-41D8-9538-9FB38FCB290D}" type="pres">
      <dgm:prSet presAssocID="{FAD2FA6A-B95E-4C3E-AFF6-CCE9223EC8D6}" presName="horz1" presStyleCnt="0"/>
      <dgm:spPr/>
    </dgm:pt>
    <dgm:pt modelId="{9A88623B-2906-44B7-9147-6FB0D3F308A4}" type="pres">
      <dgm:prSet presAssocID="{FAD2FA6A-B95E-4C3E-AFF6-CCE9223EC8D6}" presName="tx1" presStyleLbl="revTx" presStyleIdx="2" presStyleCnt="4"/>
      <dgm:spPr/>
    </dgm:pt>
    <dgm:pt modelId="{06DF82FF-C620-4115-BF80-4219EA01D304}" type="pres">
      <dgm:prSet presAssocID="{FAD2FA6A-B95E-4C3E-AFF6-CCE9223EC8D6}" presName="vert1" presStyleCnt="0"/>
      <dgm:spPr/>
    </dgm:pt>
    <dgm:pt modelId="{F905637C-3C90-40FB-984A-466F2F96BFBF}" type="pres">
      <dgm:prSet presAssocID="{524F1E47-12E6-4356-B344-5A6CD719D741}" presName="thickLine" presStyleLbl="alignNode1" presStyleIdx="3" presStyleCnt="4"/>
      <dgm:spPr/>
    </dgm:pt>
    <dgm:pt modelId="{C80B78A2-3735-4965-B0D5-6D4B744D0332}" type="pres">
      <dgm:prSet presAssocID="{524F1E47-12E6-4356-B344-5A6CD719D741}" presName="horz1" presStyleCnt="0"/>
      <dgm:spPr/>
    </dgm:pt>
    <dgm:pt modelId="{83AD040A-F337-421B-9C1F-4735E90E3376}" type="pres">
      <dgm:prSet presAssocID="{524F1E47-12E6-4356-B344-5A6CD719D741}" presName="tx1" presStyleLbl="revTx" presStyleIdx="3" presStyleCnt="4"/>
      <dgm:spPr/>
    </dgm:pt>
    <dgm:pt modelId="{C1712416-8366-4503-B6DB-613E83D61E1D}" type="pres">
      <dgm:prSet presAssocID="{524F1E47-12E6-4356-B344-5A6CD719D741}" presName="vert1" presStyleCnt="0"/>
      <dgm:spPr/>
    </dgm:pt>
  </dgm:ptLst>
  <dgm:cxnLst>
    <dgm:cxn modelId="{C084BB31-4E7C-4EF0-9D7A-4DA65A753C7E}" type="presOf" srcId="{524F1E47-12E6-4356-B344-5A6CD719D741}" destId="{83AD040A-F337-421B-9C1F-4735E90E3376}" srcOrd="0" destOrd="0" presId="urn:microsoft.com/office/officeart/2008/layout/LinedList"/>
    <dgm:cxn modelId="{2C6E2063-51E2-4431-8112-A8E7ECB361A1}" type="presOf" srcId="{D1A007B4-BCD9-433F-B326-742A415A9938}" destId="{EAD22B22-B3E5-4225-92D1-21F3D1F5DC41}" srcOrd="0" destOrd="0" presId="urn:microsoft.com/office/officeart/2008/layout/LinedList"/>
    <dgm:cxn modelId="{95C02675-65CB-49DC-8C32-53C01D1F87BF}" srcId="{83E3CEEB-AA81-45F6-8321-288900D3C3DA}" destId="{D1A007B4-BCD9-433F-B326-742A415A9938}" srcOrd="0" destOrd="0" parTransId="{767BE08C-6931-4032-ADED-413D9878F083}" sibTransId="{BDA3424F-835D-4A66-A07C-E66DC0D8A6D9}"/>
    <dgm:cxn modelId="{F8565DA9-A8A9-478C-9836-CA646F6D3FE1}" type="presOf" srcId="{83E3CEEB-AA81-45F6-8321-288900D3C3DA}" destId="{940EA5E9-A07A-4B8B-BFFB-52E4BC2CA2BC}" srcOrd="0" destOrd="0" presId="urn:microsoft.com/office/officeart/2008/layout/LinedList"/>
    <dgm:cxn modelId="{4528F6B9-8FD1-4B88-A4E2-752AF6BF3F68}" srcId="{83E3CEEB-AA81-45F6-8321-288900D3C3DA}" destId="{FAD2FA6A-B95E-4C3E-AFF6-CCE9223EC8D6}" srcOrd="2" destOrd="0" parTransId="{CC6D1B19-6A85-4A84-AF49-63D262F1D031}" sibTransId="{7A992D12-4C51-44EF-B029-BCBE5E6C4A78}"/>
    <dgm:cxn modelId="{D176E4CD-90DE-41DC-93BA-BEE8AC0A4997}" srcId="{83E3CEEB-AA81-45F6-8321-288900D3C3DA}" destId="{524F1E47-12E6-4356-B344-5A6CD719D741}" srcOrd="3" destOrd="0" parTransId="{3881208F-1334-4FB3-917B-AB96E499C57F}" sibTransId="{A8FE1A9E-6A8D-4125-806D-8ACE93DD07B9}"/>
    <dgm:cxn modelId="{F7F26FD6-F1F0-4187-BB5F-75CDD23D9382}" type="presOf" srcId="{A11BDD1E-305D-4027-9BB1-FD7AD85A3F78}" destId="{1564B6D5-9672-499F-816C-A40DA5FCA5D0}" srcOrd="0" destOrd="0" presId="urn:microsoft.com/office/officeart/2008/layout/LinedList"/>
    <dgm:cxn modelId="{3FA3B6F9-DDA4-4858-B051-C8061F0B7DD6}" type="presOf" srcId="{FAD2FA6A-B95E-4C3E-AFF6-CCE9223EC8D6}" destId="{9A88623B-2906-44B7-9147-6FB0D3F308A4}" srcOrd="0" destOrd="0" presId="urn:microsoft.com/office/officeart/2008/layout/LinedList"/>
    <dgm:cxn modelId="{013765FC-AF65-4AEF-8EF3-6FB2B12B3410}" srcId="{83E3CEEB-AA81-45F6-8321-288900D3C3DA}" destId="{A11BDD1E-305D-4027-9BB1-FD7AD85A3F78}" srcOrd="1" destOrd="0" parTransId="{055A379F-33F3-452A-A1A4-B0A6F4479D77}" sibTransId="{2A01DF55-B517-4D72-9C57-6AA7F6C18607}"/>
    <dgm:cxn modelId="{51F2F315-F78B-4AFC-BFD9-CC7F979634D3}" type="presParOf" srcId="{940EA5E9-A07A-4B8B-BFFB-52E4BC2CA2BC}" destId="{3E488B90-ADF9-4B08-AEBC-4A026A2F0663}" srcOrd="0" destOrd="0" presId="urn:microsoft.com/office/officeart/2008/layout/LinedList"/>
    <dgm:cxn modelId="{A2FE966C-9A89-41E6-9735-90EDA88CDC84}" type="presParOf" srcId="{940EA5E9-A07A-4B8B-BFFB-52E4BC2CA2BC}" destId="{547FF2E7-1B48-4C79-9E60-E16BC9DEA75C}" srcOrd="1" destOrd="0" presId="urn:microsoft.com/office/officeart/2008/layout/LinedList"/>
    <dgm:cxn modelId="{3EC1278E-4AB0-43CE-A0AA-8EB7FEC77A37}" type="presParOf" srcId="{547FF2E7-1B48-4C79-9E60-E16BC9DEA75C}" destId="{EAD22B22-B3E5-4225-92D1-21F3D1F5DC41}" srcOrd="0" destOrd="0" presId="urn:microsoft.com/office/officeart/2008/layout/LinedList"/>
    <dgm:cxn modelId="{ED27179F-72AB-4464-9E9A-F2619237E9B9}" type="presParOf" srcId="{547FF2E7-1B48-4C79-9E60-E16BC9DEA75C}" destId="{9E5E8C0A-5506-4562-BFD8-90F7AB69C594}" srcOrd="1" destOrd="0" presId="urn:microsoft.com/office/officeart/2008/layout/LinedList"/>
    <dgm:cxn modelId="{9078BDA2-D221-4569-939B-A34ED56F2192}" type="presParOf" srcId="{940EA5E9-A07A-4B8B-BFFB-52E4BC2CA2BC}" destId="{60CD2D25-980F-45D6-9C06-64E946BCB45B}" srcOrd="2" destOrd="0" presId="urn:microsoft.com/office/officeart/2008/layout/LinedList"/>
    <dgm:cxn modelId="{B25F0C87-CE40-4112-B490-7660851B01C2}" type="presParOf" srcId="{940EA5E9-A07A-4B8B-BFFB-52E4BC2CA2BC}" destId="{455CDFA4-9FF9-46BD-AFC6-8BD2041212B7}" srcOrd="3" destOrd="0" presId="urn:microsoft.com/office/officeart/2008/layout/LinedList"/>
    <dgm:cxn modelId="{0CABE2CC-1709-413B-99C2-7E117BDA5AD0}" type="presParOf" srcId="{455CDFA4-9FF9-46BD-AFC6-8BD2041212B7}" destId="{1564B6D5-9672-499F-816C-A40DA5FCA5D0}" srcOrd="0" destOrd="0" presId="urn:microsoft.com/office/officeart/2008/layout/LinedList"/>
    <dgm:cxn modelId="{2418FE82-473E-4378-A852-9C3F47BDFC0C}" type="presParOf" srcId="{455CDFA4-9FF9-46BD-AFC6-8BD2041212B7}" destId="{60A223C6-7DE4-4D36-88DB-2B5383465D04}" srcOrd="1" destOrd="0" presId="urn:microsoft.com/office/officeart/2008/layout/LinedList"/>
    <dgm:cxn modelId="{CB890239-62BD-4505-8839-959A2CF61638}" type="presParOf" srcId="{940EA5E9-A07A-4B8B-BFFB-52E4BC2CA2BC}" destId="{6A835DD9-A8CD-44C5-838B-449EEB3AF36F}" srcOrd="4" destOrd="0" presId="urn:microsoft.com/office/officeart/2008/layout/LinedList"/>
    <dgm:cxn modelId="{6B0C8483-3639-477D-8E8A-FBEEB26D55EF}" type="presParOf" srcId="{940EA5E9-A07A-4B8B-BFFB-52E4BC2CA2BC}" destId="{FE584CE2-721E-41D8-9538-9FB38FCB290D}" srcOrd="5" destOrd="0" presId="urn:microsoft.com/office/officeart/2008/layout/LinedList"/>
    <dgm:cxn modelId="{CA624BAF-697A-4508-AAC0-16026B199C4D}" type="presParOf" srcId="{FE584CE2-721E-41D8-9538-9FB38FCB290D}" destId="{9A88623B-2906-44B7-9147-6FB0D3F308A4}" srcOrd="0" destOrd="0" presId="urn:microsoft.com/office/officeart/2008/layout/LinedList"/>
    <dgm:cxn modelId="{409576F7-C0B1-4374-BD2B-6E45FEE278D2}" type="presParOf" srcId="{FE584CE2-721E-41D8-9538-9FB38FCB290D}" destId="{06DF82FF-C620-4115-BF80-4219EA01D304}" srcOrd="1" destOrd="0" presId="urn:microsoft.com/office/officeart/2008/layout/LinedList"/>
    <dgm:cxn modelId="{A76F1173-FDDF-4D5D-9309-8C76D62FEBA6}" type="presParOf" srcId="{940EA5E9-A07A-4B8B-BFFB-52E4BC2CA2BC}" destId="{F905637C-3C90-40FB-984A-466F2F96BFBF}" srcOrd="6" destOrd="0" presId="urn:microsoft.com/office/officeart/2008/layout/LinedList"/>
    <dgm:cxn modelId="{B0D0BE6D-625C-44C2-A838-A26874823121}" type="presParOf" srcId="{940EA5E9-A07A-4B8B-BFFB-52E4BC2CA2BC}" destId="{C80B78A2-3735-4965-B0D5-6D4B744D0332}" srcOrd="7" destOrd="0" presId="urn:microsoft.com/office/officeart/2008/layout/LinedList"/>
    <dgm:cxn modelId="{FD694BA1-6625-48D3-AECA-F839ED56E3DC}" type="presParOf" srcId="{C80B78A2-3735-4965-B0D5-6D4B744D0332}" destId="{83AD040A-F337-421B-9C1F-4735E90E3376}" srcOrd="0" destOrd="0" presId="urn:microsoft.com/office/officeart/2008/layout/LinedList"/>
    <dgm:cxn modelId="{846B4D8A-7340-417D-BD4E-0D652F3CBFE1}" type="presParOf" srcId="{C80B78A2-3735-4965-B0D5-6D4B744D0332}" destId="{C1712416-8366-4503-B6DB-613E83D61E1D}"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E488B90-ADF9-4B08-AEBC-4A026A2F0663}">
      <dsp:nvSpPr>
        <dsp:cNvPr id="0" name=""/>
        <dsp:cNvSpPr/>
      </dsp:nvSpPr>
      <dsp:spPr>
        <a:xfrm>
          <a:off x="0" y="0"/>
          <a:ext cx="5913437" cy="0"/>
        </a:xfrm>
        <a:prstGeom prst="line">
          <a:avLst/>
        </a:prstGeom>
        <a:gradFill rotWithShape="0">
          <a:gsLst>
            <a:gs pos="0">
              <a:schemeClr val="accent5">
                <a:hueOff val="0"/>
                <a:satOff val="0"/>
                <a:lumOff val="0"/>
                <a:alphaOff val="0"/>
                <a:tint val="98000"/>
                <a:satMod val="110000"/>
                <a:lumMod val="104000"/>
              </a:schemeClr>
            </a:gs>
            <a:gs pos="69000">
              <a:schemeClr val="accent5">
                <a:hueOff val="0"/>
                <a:satOff val="0"/>
                <a:lumOff val="0"/>
                <a:alphaOff val="0"/>
                <a:shade val="88000"/>
                <a:satMod val="130000"/>
                <a:lumMod val="92000"/>
              </a:schemeClr>
            </a:gs>
            <a:gs pos="100000">
              <a:schemeClr val="accent5">
                <a:hueOff val="0"/>
                <a:satOff val="0"/>
                <a:lumOff val="0"/>
                <a:alphaOff val="0"/>
                <a:shade val="78000"/>
                <a:satMod val="130000"/>
                <a:lumMod val="92000"/>
              </a:schemeClr>
            </a:gs>
          </a:gsLst>
          <a:lin ang="5400000" scaled="0"/>
        </a:gradFill>
        <a:ln w="9525" cap="flat" cmpd="sng" algn="ctr">
          <a:solidFill>
            <a:schemeClr val="accent5">
              <a:hueOff val="0"/>
              <a:satOff val="0"/>
              <a:lumOff val="0"/>
              <a:alphaOff val="0"/>
            </a:schemeClr>
          </a:solidFill>
          <a:prstDash val="solid"/>
        </a:ln>
        <a:effectLst/>
      </dsp:spPr>
      <dsp:style>
        <a:lnRef idx="1">
          <a:scrgbClr r="0" g="0" b="0"/>
        </a:lnRef>
        <a:fillRef idx="3">
          <a:scrgbClr r="0" g="0" b="0"/>
        </a:fillRef>
        <a:effectRef idx="2">
          <a:scrgbClr r="0" g="0" b="0"/>
        </a:effectRef>
        <a:fontRef idx="minor">
          <a:schemeClr val="lt1"/>
        </a:fontRef>
      </dsp:style>
    </dsp:sp>
    <dsp:sp modelId="{EAD22B22-B3E5-4225-92D1-21F3D1F5DC41}">
      <dsp:nvSpPr>
        <dsp:cNvPr id="0" name=""/>
        <dsp:cNvSpPr/>
      </dsp:nvSpPr>
      <dsp:spPr>
        <a:xfrm>
          <a:off x="0" y="0"/>
          <a:ext cx="5913437" cy="115927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3350" tIns="133350" rIns="133350" bIns="133350" numCol="1" spcCol="1270" anchor="t" anchorCtr="0">
          <a:noAutofit/>
        </a:bodyPr>
        <a:lstStyle/>
        <a:p>
          <a:pPr marL="0" lvl="0" indent="0" algn="l" defTabSz="1555750">
            <a:lnSpc>
              <a:spcPct val="90000"/>
            </a:lnSpc>
            <a:spcBef>
              <a:spcPct val="0"/>
            </a:spcBef>
            <a:spcAft>
              <a:spcPct val="35000"/>
            </a:spcAft>
            <a:buNone/>
          </a:pPr>
          <a:r>
            <a:rPr lang="en-IN" sz="3500" kern="1200"/>
            <a:t>Google Gemini 2.5 Flash (LLM)</a:t>
          </a:r>
          <a:endParaRPr lang="en-US" sz="3500" kern="1200"/>
        </a:p>
      </dsp:txBody>
      <dsp:txXfrm>
        <a:off x="0" y="0"/>
        <a:ext cx="5913437" cy="1159272"/>
      </dsp:txXfrm>
    </dsp:sp>
    <dsp:sp modelId="{60CD2D25-980F-45D6-9C06-64E946BCB45B}">
      <dsp:nvSpPr>
        <dsp:cNvPr id="0" name=""/>
        <dsp:cNvSpPr/>
      </dsp:nvSpPr>
      <dsp:spPr>
        <a:xfrm>
          <a:off x="0" y="1159272"/>
          <a:ext cx="5913437" cy="0"/>
        </a:xfrm>
        <a:prstGeom prst="line">
          <a:avLst/>
        </a:prstGeom>
        <a:gradFill rotWithShape="0">
          <a:gsLst>
            <a:gs pos="0">
              <a:schemeClr val="accent5">
                <a:hueOff val="-561544"/>
                <a:satOff val="-2648"/>
                <a:lumOff val="653"/>
                <a:alphaOff val="0"/>
                <a:tint val="98000"/>
                <a:satMod val="110000"/>
                <a:lumMod val="104000"/>
              </a:schemeClr>
            </a:gs>
            <a:gs pos="69000">
              <a:schemeClr val="accent5">
                <a:hueOff val="-561544"/>
                <a:satOff val="-2648"/>
                <a:lumOff val="653"/>
                <a:alphaOff val="0"/>
                <a:shade val="88000"/>
                <a:satMod val="130000"/>
                <a:lumMod val="92000"/>
              </a:schemeClr>
            </a:gs>
            <a:gs pos="100000">
              <a:schemeClr val="accent5">
                <a:hueOff val="-561544"/>
                <a:satOff val="-2648"/>
                <a:lumOff val="653"/>
                <a:alphaOff val="0"/>
                <a:shade val="78000"/>
                <a:satMod val="130000"/>
                <a:lumMod val="92000"/>
              </a:schemeClr>
            </a:gs>
          </a:gsLst>
          <a:lin ang="5400000" scaled="0"/>
        </a:gradFill>
        <a:ln w="9525" cap="flat" cmpd="sng" algn="ctr">
          <a:solidFill>
            <a:schemeClr val="accent5">
              <a:hueOff val="-561544"/>
              <a:satOff val="-2648"/>
              <a:lumOff val="653"/>
              <a:alphaOff val="0"/>
            </a:schemeClr>
          </a:solidFill>
          <a:prstDash val="solid"/>
        </a:ln>
        <a:effectLst/>
      </dsp:spPr>
      <dsp:style>
        <a:lnRef idx="1">
          <a:scrgbClr r="0" g="0" b="0"/>
        </a:lnRef>
        <a:fillRef idx="3">
          <a:scrgbClr r="0" g="0" b="0"/>
        </a:fillRef>
        <a:effectRef idx="2">
          <a:scrgbClr r="0" g="0" b="0"/>
        </a:effectRef>
        <a:fontRef idx="minor">
          <a:schemeClr val="lt1"/>
        </a:fontRef>
      </dsp:style>
    </dsp:sp>
    <dsp:sp modelId="{1564B6D5-9672-499F-816C-A40DA5FCA5D0}">
      <dsp:nvSpPr>
        <dsp:cNvPr id="0" name=""/>
        <dsp:cNvSpPr/>
      </dsp:nvSpPr>
      <dsp:spPr>
        <a:xfrm>
          <a:off x="0" y="1159272"/>
          <a:ext cx="5913437" cy="115927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3350" tIns="133350" rIns="133350" bIns="133350" numCol="1" spcCol="1270" anchor="t" anchorCtr="0">
          <a:noAutofit/>
        </a:bodyPr>
        <a:lstStyle/>
        <a:p>
          <a:pPr marL="0" lvl="0" indent="0" algn="l" defTabSz="1555750">
            <a:lnSpc>
              <a:spcPct val="90000"/>
            </a:lnSpc>
            <a:spcBef>
              <a:spcPct val="0"/>
            </a:spcBef>
            <a:spcAft>
              <a:spcPct val="35000"/>
            </a:spcAft>
            <a:buNone/>
          </a:pPr>
          <a:r>
            <a:rPr lang="en-IN" sz="3500" kern="1200"/>
            <a:t>Python</a:t>
          </a:r>
          <a:endParaRPr lang="en-US" sz="3500" kern="1200"/>
        </a:p>
      </dsp:txBody>
      <dsp:txXfrm>
        <a:off x="0" y="1159272"/>
        <a:ext cx="5913437" cy="1159272"/>
      </dsp:txXfrm>
    </dsp:sp>
    <dsp:sp modelId="{6A835DD9-A8CD-44C5-838B-449EEB3AF36F}">
      <dsp:nvSpPr>
        <dsp:cNvPr id="0" name=""/>
        <dsp:cNvSpPr/>
      </dsp:nvSpPr>
      <dsp:spPr>
        <a:xfrm>
          <a:off x="0" y="2318544"/>
          <a:ext cx="5913437" cy="0"/>
        </a:xfrm>
        <a:prstGeom prst="line">
          <a:avLst/>
        </a:prstGeom>
        <a:gradFill rotWithShape="0">
          <a:gsLst>
            <a:gs pos="0">
              <a:schemeClr val="accent5">
                <a:hueOff val="-1123087"/>
                <a:satOff val="-5296"/>
                <a:lumOff val="1307"/>
                <a:alphaOff val="0"/>
                <a:tint val="98000"/>
                <a:satMod val="110000"/>
                <a:lumMod val="104000"/>
              </a:schemeClr>
            </a:gs>
            <a:gs pos="69000">
              <a:schemeClr val="accent5">
                <a:hueOff val="-1123087"/>
                <a:satOff val="-5296"/>
                <a:lumOff val="1307"/>
                <a:alphaOff val="0"/>
                <a:shade val="88000"/>
                <a:satMod val="130000"/>
                <a:lumMod val="92000"/>
              </a:schemeClr>
            </a:gs>
            <a:gs pos="100000">
              <a:schemeClr val="accent5">
                <a:hueOff val="-1123087"/>
                <a:satOff val="-5296"/>
                <a:lumOff val="1307"/>
                <a:alphaOff val="0"/>
                <a:shade val="78000"/>
                <a:satMod val="130000"/>
                <a:lumMod val="92000"/>
              </a:schemeClr>
            </a:gs>
          </a:gsLst>
          <a:lin ang="5400000" scaled="0"/>
        </a:gradFill>
        <a:ln w="9525" cap="flat" cmpd="sng" algn="ctr">
          <a:solidFill>
            <a:schemeClr val="accent5">
              <a:hueOff val="-1123087"/>
              <a:satOff val="-5296"/>
              <a:lumOff val="1307"/>
              <a:alphaOff val="0"/>
            </a:schemeClr>
          </a:solidFill>
          <a:prstDash val="solid"/>
        </a:ln>
        <a:effectLst/>
      </dsp:spPr>
      <dsp:style>
        <a:lnRef idx="1">
          <a:scrgbClr r="0" g="0" b="0"/>
        </a:lnRef>
        <a:fillRef idx="3">
          <a:scrgbClr r="0" g="0" b="0"/>
        </a:fillRef>
        <a:effectRef idx="2">
          <a:scrgbClr r="0" g="0" b="0"/>
        </a:effectRef>
        <a:fontRef idx="minor">
          <a:schemeClr val="lt1"/>
        </a:fontRef>
      </dsp:style>
    </dsp:sp>
    <dsp:sp modelId="{9A88623B-2906-44B7-9147-6FB0D3F308A4}">
      <dsp:nvSpPr>
        <dsp:cNvPr id="0" name=""/>
        <dsp:cNvSpPr/>
      </dsp:nvSpPr>
      <dsp:spPr>
        <a:xfrm>
          <a:off x="0" y="2318544"/>
          <a:ext cx="5913437" cy="115927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3350" tIns="133350" rIns="133350" bIns="133350" numCol="1" spcCol="1270" anchor="t" anchorCtr="0">
          <a:noAutofit/>
        </a:bodyPr>
        <a:lstStyle/>
        <a:p>
          <a:pPr marL="0" lvl="0" indent="0" algn="l" defTabSz="1555750">
            <a:lnSpc>
              <a:spcPct val="90000"/>
            </a:lnSpc>
            <a:spcBef>
              <a:spcPct val="0"/>
            </a:spcBef>
            <a:spcAft>
              <a:spcPct val="35000"/>
            </a:spcAft>
            <a:buNone/>
          </a:pPr>
          <a:r>
            <a:rPr lang="en-IN" sz="3500" kern="1200" dirty="0"/>
            <a:t>Streamlit</a:t>
          </a:r>
          <a:endParaRPr lang="en-US" sz="3500" kern="1200" dirty="0"/>
        </a:p>
      </dsp:txBody>
      <dsp:txXfrm>
        <a:off x="0" y="2318544"/>
        <a:ext cx="5913437" cy="1159272"/>
      </dsp:txXfrm>
    </dsp:sp>
    <dsp:sp modelId="{F905637C-3C90-40FB-984A-466F2F96BFBF}">
      <dsp:nvSpPr>
        <dsp:cNvPr id="0" name=""/>
        <dsp:cNvSpPr/>
      </dsp:nvSpPr>
      <dsp:spPr>
        <a:xfrm>
          <a:off x="0" y="3477816"/>
          <a:ext cx="5913437" cy="0"/>
        </a:xfrm>
        <a:prstGeom prst="line">
          <a:avLst/>
        </a:prstGeom>
        <a:gradFill rotWithShape="0">
          <a:gsLst>
            <a:gs pos="0">
              <a:schemeClr val="accent5">
                <a:hueOff val="-1684631"/>
                <a:satOff val="-7944"/>
                <a:lumOff val="1960"/>
                <a:alphaOff val="0"/>
                <a:tint val="98000"/>
                <a:satMod val="110000"/>
                <a:lumMod val="104000"/>
              </a:schemeClr>
            </a:gs>
            <a:gs pos="69000">
              <a:schemeClr val="accent5">
                <a:hueOff val="-1684631"/>
                <a:satOff val="-7944"/>
                <a:lumOff val="1960"/>
                <a:alphaOff val="0"/>
                <a:shade val="88000"/>
                <a:satMod val="130000"/>
                <a:lumMod val="92000"/>
              </a:schemeClr>
            </a:gs>
            <a:gs pos="100000">
              <a:schemeClr val="accent5">
                <a:hueOff val="-1684631"/>
                <a:satOff val="-7944"/>
                <a:lumOff val="1960"/>
                <a:alphaOff val="0"/>
                <a:shade val="78000"/>
                <a:satMod val="130000"/>
                <a:lumMod val="92000"/>
              </a:schemeClr>
            </a:gs>
          </a:gsLst>
          <a:lin ang="5400000" scaled="0"/>
        </a:gradFill>
        <a:ln w="9525" cap="flat" cmpd="sng" algn="ctr">
          <a:solidFill>
            <a:schemeClr val="accent5">
              <a:hueOff val="-1684631"/>
              <a:satOff val="-7944"/>
              <a:lumOff val="1960"/>
              <a:alphaOff val="0"/>
            </a:schemeClr>
          </a:solidFill>
          <a:prstDash val="solid"/>
        </a:ln>
        <a:effectLst/>
      </dsp:spPr>
      <dsp:style>
        <a:lnRef idx="1">
          <a:scrgbClr r="0" g="0" b="0"/>
        </a:lnRef>
        <a:fillRef idx="3">
          <a:scrgbClr r="0" g="0" b="0"/>
        </a:fillRef>
        <a:effectRef idx="2">
          <a:scrgbClr r="0" g="0" b="0"/>
        </a:effectRef>
        <a:fontRef idx="minor">
          <a:schemeClr val="lt1"/>
        </a:fontRef>
      </dsp:style>
    </dsp:sp>
    <dsp:sp modelId="{83AD040A-F337-421B-9C1F-4735E90E3376}">
      <dsp:nvSpPr>
        <dsp:cNvPr id="0" name=""/>
        <dsp:cNvSpPr/>
      </dsp:nvSpPr>
      <dsp:spPr>
        <a:xfrm>
          <a:off x="0" y="3477816"/>
          <a:ext cx="5913437" cy="115927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3350" tIns="133350" rIns="133350" bIns="133350" numCol="1" spcCol="1270" anchor="t" anchorCtr="0">
          <a:noAutofit/>
        </a:bodyPr>
        <a:lstStyle/>
        <a:p>
          <a:pPr marL="0" lvl="0" indent="0" algn="l" defTabSz="1555750">
            <a:lnSpc>
              <a:spcPct val="90000"/>
            </a:lnSpc>
            <a:spcBef>
              <a:spcPct val="0"/>
            </a:spcBef>
            <a:spcAft>
              <a:spcPct val="35000"/>
            </a:spcAft>
            <a:buNone/>
          </a:pPr>
          <a:r>
            <a:rPr lang="en-IN" sz="3500" kern="1200" dirty="0"/>
            <a:t>Google GenAI SDK</a:t>
          </a:r>
          <a:endParaRPr lang="en-US" sz="3500" kern="1200" dirty="0"/>
        </a:p>
      </dsp:txBody>
      <dsp:txXfrm>
        <a:off x="0" y="3477816"/>
        <a:ext cx="5913437" cy="1159272"/>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GB"/>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dirty="0"/>
          </a:p>
        </p:txBody>
      </p:sp>
      <p:sp>
        <p:nvSpPr>
          <p:cNvPr id="4" name="Date Placeholder 3"/>
          <p:cNvSpPr>
            <a:spLocks noGrp="1"/>
          </p:cNvSpPr>
          <p:nvPr>
            <p:ph type="dt" sz="half" idx="10"/>
          </p:nvPr>
        </p:nvSpPr>
        <p:spPr/>
        <p:txBody>
          <a:bodyPr/>
          <a:lstStyle/>
          <a:p>
            <a:fld id="{12841A88-B3E8-46C0-A4F4-221D6C4196A5}" type="datetimeFigureOut">
              <a:rPr lang="en-IN" smtClean="0"/>
              <a:t>01-07-2026</a:t>
            </a:fld>
            <a:endParaRPr lang="en-IN"/>
          </a:p>
        </p:txBody>
      </p:sp>
      <p:sp>
        <p:nvSpPr>
          <p:cNvPr id="5" name="Footer Placeholder 4"/>
          <p:cNvSpPr>
            <a:spLocks noGrp="1"/>
          </p:cNvSpPr>
          <p:nvPr>
            <p:ph type="ftr" sz="quarter" idx="11"/>
          </p:nvPr>
        </p:nvSpPr>
        <p:spPr>
          <a:xfrm>
            <a:off x="2416500" y="329307"/>
            <a:ext cx="4973915" cy="309201"/>
          </a:xfrm>
        </p:spPr>
        <p:txBody>
          <a:bodyPr/>
          <a:lstStyle/>
          <a:p>
            <a:endParaRPr lang="en-IN"/>
          </a:p>
        </p:txBody>
      </p:sp>
      <p:sp>
        <p:nvSpPr>
          <p:cNvPr id="6" name="Slide Number Placeholder 5"/>
          <p:cNvSpPr>
            <a:spLocks noGrp="1"/>
          </p:cNvSpPr>
          <p:nvPr>
            <p:ph type="sldNum" sz="quarter" idx="12"/>
          </p:nvPr>
        </p:nvSpPr>
        <p:spPr>
          <a:xfrm>
            <a:off x="1437664" y="798973"/>
            <a:ext cx="811019" cy="503578"/>
          </a:xfrm>
        </p:spPr>
        <p:txBody>
          <a:bodyPr/>
          <a:lstStyle/>
          <a:p>
            <a:fld id="{1F8677AD-3101-4DA3-94C2-CED989B9A63B}" type="slidenum">
              <a:rPr lang="en-IN" smtClean="0"/>
              <a:t>‹#›</a:t>
            </a:fld>
            <a:endParaRPr lang="en-IN"/>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3902923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ncho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12841A88-B3E8-46C0-A4F4-221D6C4196A5}" type="datetimeFigureOut">
              <a:rPr lang="en-IN" smtClean="0"/>
              <a:t>01-07-2026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F8677AD-3101-4DA3-94C2-CED989B9A63B}" type="slidenum">
              <a:rPr lang="en-IN" smtClean="0"/>
              <a:t>‹#›</a:t>
            </a:fld>
            <a:endParaRPr lang="en-IN"/>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4627505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GB"/>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12841A88-B3E8-46C0-A4F4-221D6C4196A5}" type="datetimeFigureOut">
              <a:rPr lang="en-IN" smtClean="0"/>
              <a:t>01-07-2026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F8677AD-3101-4DA3-94C2-CED989B9A63B}" type="slidenum">
              <a:rPr lang="en-IN" smtClean="0"/>
              <a:t>‹#›</a:t>
            </a:fld>
            <a:endParaRPr lang="en-IN"/>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322846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GB"/>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12841A88-B3E8-46C0-A4F4-221D6C4196A5}" type="datetimeFigureOut">
              <a:rPr lang="en-IN" smtClean="0"/>
              <a:t>01-07-2026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F8677AD-3101-4DA3-94C2-CED989B9A63B}" type="slidenum">
              <a:rPr lang="en-IN" smtClean="0"/>
              <a:t>‹#›</a:t>
            </a:fld>
            <a:endParaRPr lang="en-IN"/>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9452371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GB"/>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12841A88-B3E8-46C0-A4F4-221D6C4196A5}" type="datetimeFigureOut">
              <a:rPr lang="en-IN" smtClean="0"/>
              <a:t>01-07-2026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1F8677AD-3101-4DA3-94C2-CED989B9A63B}" type="slidenum">
              <a:rPr lang="en-IN" smtClean="0"/>
              <a:t>‹#›</a:t>
            </a:fld>
            <a:endParaRPr lang="en-IN"/>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1007694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12841A88-B3E8-46C0-A4F4-221D6C4196A5}" type="datetimeFigureOut">
              <a:rPr lang="en-IN" smtClean="0"/>
              <a:t>01-07-2026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1F8677AD-3101-4DA3-94C2-CED989B9A63B}" type="slidenum">
              <a:rPr lang="en-IN" smtClean="0"/>
              <a:t>‹#›</a:t>
            </a:fld>
            <a:endParaRPr lang="en-IN"/>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6854302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2841A88-B3E8-46C0-A4F4-221D6C4196A5}" type="datetimeFigureOut">
              <a:rPr lang="en-IN" smtClean="0"/>
              <a:t>01-07-2026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1F8677AD-3101-4DA3-94C2-CED989B9A63B}" type="slidenum">
              <a:rPr lang="en-IN" smtClean="0"/>
              <a:t>‹#›</a:t>
            </a:fld>
            <a:endParaRPr lang="en-IN"/>
          </a:p>
        </p:txBody>
      </p:sp>
    </p:spTree>
    <p:extLst>
      <p:ext uri="{BB962C8B-B14F-4D97-AF65-F5344CB8AC3E}">
        <p14:creationId xmlns:p14="http://schemas.microsoft.com/office/powerpoint/2010/main" val="21691383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GB"/>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12841A88-B3E8-46C0-A4F4-221D6C4196A5}" type="datetimeFigureOut">
              <a:rPr lang="en-IN" smtClean="0"/>
              <a:t>01-07-2026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F8677AD-3101-4DA3-94C2-CED989B9A63B}" type="slidenum">
              <a:rPr lang="en-IN" smtClean="0"/>
              <a:t>‹#›</a:t>
            </a:fld>
            <a:endParaRPr lang="en-IN"/>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6705977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txBody>
            <a:bodyPr/>
            <a:lstStyle/>
            <a:p>
              <a:endParaRPr lang="en-IN"/>
            </a:p>
          </p:txBody>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GB"/>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12841A88-B3E8-46C0-A4F4-221D6C4196A5}" type="datetimeFigureOut">
              <a:rPr lang="en-IN" smtClean="0"/>
              <a:t>01-07-2026</a:t>
            </a:fld>
            <a:endParaRPr lang="en-IN"/>
          </a:p>
        </p:txBody>
      </p:sp>
      <p:sp>
        <p:nvSpPr>
          <p:cNvPr id="6" name="Footer Placeholder 5"/>
          <p:cNvSpPr>
            <a:spLocks noGrp="1"/>
          </p:cNvSpPr>
          <p:nvPr>
            <p:ph type="ftr" sz="quarter" idx="11"/>
          </p:nvPr>
        </p:nvSpPr>
        <p:spPr>
          <a:xfrm>
            <a:off x="1447382" y="318640"/>
            <a:ext cx="5541004" cy="320931"/>
          </a:xfrm>
        </p:spPr>
        <p:txBody>
          <a:bodyPr/>
          <a:lstStyle/>
          <a:p>
            <a:endParaRPr lang="en-IN"/>
          </a:p>
        </p:txBody>
      </p:sp>
      <p:sp>
        <p:nvSpPr>
          <p:cNvPr id="7" name="Slide Number Placeholder 6"/>
          <p:cNvSpPr>
            <a:spLocks noGrp="1"/>
          </p:cNvSpPr>
          <p:nvPr>
            <p:ph type="sldNum" sz="quarter" idx="12"/>
          </p:nvPr>
        </p:nvSpPr>
        <p:spPr/>
        <p:txBody>
          <a:bodyPr/>
          <a:lstStyle/>
          <a:p>
            <a:fld id="{1F8677AD-3101-4DA3-94C2-CED989B9A63B}" type="slidenum">
              <a:rPr lang="en-IN" smtClean="0"/>
              <a:t>‹#›</a:t>
            </a:fld>
            <a:endParaRPr lang="en-IN"/>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7868254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12841A88-B3E8-46C0-A4F4-221D6C4196A5}" type="datetimeFigureOut">
              <a:rPr lang="en-IN" smtClean="0"/>
              <a:t>01-07-2026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F8677AD-3101-4DA3-94C2-CED989B9A63B}" type="slidenum">
              <a:rPr lang="en-IN" smtClean="0"/>
              <a:t>‹#›</a:t>
            </a:fld>
            <a:endParaRPr lang="en-IN"/>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9493995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GB"/>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12841A88-B3E8-46C0-A4F4-221D6C4196A5}" type="datetimeFigureOut">
              <a:rPr lang="en-IN" smtClean="0"/>
              <a:t>01-07-2026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F8677AD-3101-4DA3-94C2-CED989B9A63B}" type="slidenum">
              <a:rPr lang="en-IN" smtClean="0"/>
              <a:t>‹#›</a:t>
            </a:fld>
            <a:endParaRPr lang="en-IN"/>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3761066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pic>
        <p:nvPicPr>
          <p:cNvPr id="7" name="Picture 6"/>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GB"/>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12841A88-B3E8-46C0-A4F4-221D6C4196A5}" type="datetimeFigureOut">
              <a:rPr lang="en-IN" smtClean="0"/>
              <a:t>01-07-2026</a:t>
            </a:fld>
            <a:endParaRPr lang="en-IN"/>
          </a:p>
        </p:txBody>
      </p:sp>
      <p:sp>
        <p:nvSpPr>
          <p:cNvPr id="5" name="Footer Placeholder 4"/>
          <p:cNvSpPr>
            <a:spLocks noGrp="1"/>
          </p:cNvSpPr>
          <p:nvPr>
            <p:ph type="ftr" sz="quarter" idx="3"/>
          </p:nvPr>
        </p:nvSpPr>
        <p:spPr>
          <a:xfrm>
            <a:off x="1451579"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1F8677AD-3101-4DA3-94C2-CED989B9A63B}" type="slidenum">
              <a:rPr lang="en-IN" smtClean="0"/>
              <a:t>‹#›</a:t>
            </a:fld>
            <a:endParaRPr lang="en-IN"/>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2435681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1.jpg"/><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C9A0BA-C473-5D4D-70B1-393B3F286882}"/>
              </a:ext>
            </a:extLst>
          </p:cNvPr>
          <p:cNvSpPr>
            <a:spLocks noGrp="1"/>
          </p:cNvSpPr>
          <p:nvPr>
            <p:ph type="ctrTitle"/>
          </p:nvPr>
        </p:nvSpPr>
        <p:spPr>
          <a:xfrm>
            <a:off x="598049" y="1876928"/>
            <a:ext cx="10154653" cy="1684420"/>
          </a:xfrm>
        </p:spPr>
        <p:txBody>
          <a:bodyPr>
            <a:normAutofit fontScale="90000"/>
          </a:bodyPr>
          <a:lstStyle/>
          <a:p>
            <a:r>
              <a:rPr lang="en-IN" b="1" dirty="0"/>
              <a:t>🛡️Disaster Shield AI</a:t>
            </a:r>
            <a:endParaRPr lang="en-IN" dirty="0"/>
          </a:p>
        </p:txBody>
      </p:sp>
      <p:sp>
        <p:nvSpPr>
          <p:cNvPr id="3" name="TextBox 2">
            <a:extLst>
              <a:ext uri="{FF2B5EF4-FFF2-40B4-BE49-F238E27FC236}">
                <a16:creationId xmlns:a16="http://schemas.microsoft.com/office/drawing/2014/main" id="{980455D4-A470-5968-33B1-1AADC503924C}"/>
              </a:ext>
            </a:extLst>
          </p:cNvPr>
          <p:cNvSpPr txBox="1"/>
          <p:nvPr/>
        </p:nvSpPr>
        <p:spPr>
          <a:xfrm>
            <a:off x="3946357" y="3561349"/>
            <a:ext cx="7218467" cy="369332"/>
          </a:xfrm>
          <a:prstGeom prst="rect">
            <a:avLst/>
          </a:prstGeom>
          <a:noFill/>
        </p:spPr>
        <p:txBody>
          <a:bodyPr wrap="square" rtlCol="0">
            <a:spAutoFit/>
          </a:bodyPr>
          <a:lstStyle/>
          <a:p>
            <a:r>
              <a:rPr lang="en-IN" dirty="0"/>
              <a:t>An AI-powered assistant for disaster preparedness and emergency guidance</a:t>
            </a:r>
          </a:p>
        </p:txBody>
      </p:sp>
    </p:spTree>
    <p:extLst>
      <p:ext uri="{BB962C8B-B14F-4D97-AF65-F5344CB8AC3E}">
        <p14:creationId xmlns:p14="http://schemas.microsoft.com/office/powerpoint/2010/main" val="123723232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456085-80A3-4FD1-6981-6B1DDEBF2246}"/>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9BA907D-1F05-ECB5-34BD-6A7C13A5FCF6}"/>
              </a:ext>
            </a:extLst>
          </p:cNvPr>
          <p:cNvSpPr>
            <a:spLocks noGrp="1"/>
          </p:cNvSpPr>
          <p:nvPr>
            <p:ph idx="1"/>
          </p:nvPr>
        </p:nvSpPr>
        <p:spPr>
          <a:xfrm>
            <a:off x="208547" y="272716"/>
            <a:ext cx="11710737" cy="6336631"/>
          </a:xfrm>
        </p:spPr>
        <p:txBody>
          <a:bodyPr/>
          <a:lstStyle/>
          <a:p>
            <a:pPr>
              <a:buFont typeface="Wingdings" panose="05000000000000000000" pitchFamily="2" charset="2"/>
              <a:buChar char="Ø"/>
            </a:pPr>
            <a:r>
              <a:rPr lang="en-US" dirty="0"/>
              <a:t>Problem Statement</a:t>
            </a:r>
          </a:p>
          <a:p>
            <a:pPr marL="0" indent="0">
              <a:buNone/>
            </a:pPr>
            <a:r>
              <a:rPr lang="en-IN" dirty="0"/>
              <a:t>Every year, people face difficulties during disasters and emergencies while trying to protect their lives and families. Lack of quick access to reliable safety information can increase risks during critical situations.</a:t>
            </a:r>
          </a:p>
          <a:p>
            <a:pPr marL="0" indent="0">
              <a:buNone/>
            </a:pPr>
            <a:endParaRPr lang="en-US" dirty="0"/>
          </a:p>
          <a:p>
            <a:pPr>
              <a:buFont typeface="Wingdings" panose="05000000000000000000" pitchFamily="2" charset="2"/>
              <a:buChar char="Ø"/>
            </a:pPr>
            <a:r>
              <a:rPr lang="en-US" dirty="0"/>
              <a:t>Challenges </a:t>
            </a:r>
          </a:p>
          <a:p>
            <a:r>
              <a:rPr lang="en-IN" dirty="0"/>
              <a:t>During disasters, people need quick and reliable information.</a:t>
            </a:r>
          </a:p>
          <a:p>
            <a:r>
              <a:rPr lang="en-IN" dirty="0"/>
              <a:t> Searching through long emergency manuals is difficult. </a:t>
            </a:r>
          </a:p>
          <a:p>
            <a:r>
              <a:rPr lang="en-IN" dirty="0"/>
              <a:t>Incorrect information during emergencies can be dangerous. </a:t>
            </a:r>
          </a:p>
          <a:p>
            <a:r>
              <a:rPr lang="en-IN" dirty="0"/>
              <a:t>People need simple step-by-step safety guidance.</a:t>
            </a:r>
          </a:p>
        </p:txBody>
      </p:sp>
    </p:spTree>
    <p:extLst>
      <p:ext uri="{BB962C8B-B14F-4D97-AF65-F5344CB8AC3E}">
        <p14:creationId xmlns:p14="http://schemas.microsoft.com/office/powerpoint/2010/main" val="11654694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a:extLst>
            <a:ext uri="{FF2B5EF4-FFF2-40B4-BE49-F238E27FC236}">
              <a16:creationId xmlns:a16="http://schemas.microsoft.com/office/drawing/2014/main" id="{2C7DF518-46D4-D30E-8DB4-B6E161BD9FE2}"/>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7BEFDA1A-2A01-4C29-A5D0-AE6F050D07D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Magnifying glass showing decling performance">
            <a:extLst>
              <a:ext uri="{FF2B5EF4-FFF2-40B4-BE49-F238E27FC236}">
                <a16:creationId xmlns:a16="http://schemas.microsoft.com/office/drawing/2014/main" id="{119A5E1C-51C1-511D-C8A5-9BA45E0635A9}"/>
              </a:ext>
            </a:extLst>
          </p:cNvPr>
          <p:cNvPicPr>
            <a:picLocks noChangeAspect="1"/>
          </p:cNvPicPr>
          <p:nvPr/>
        </p:nvPicPr>
        <p:blipFill>
          <a:blip r:embed="rId2">
            <a:duotone>
              <a:schemeClr val="bg2">
                <a:shade val="45000"/>
                <a:satMod val="135000"/>
              </a:schemeClr>
              <a:prstClr val="white"/>
            </a:duotone>
            <a:alphaModFix amt="50000"/>
          </a:blip>
          <a:srcRect t="9018" r="-1" b="6709"/>
          <a:stretch>
            <a:fillRect/>
          </a:stretch>
        </p:blipFill>
        <p:spPr>
          <a:xfrm>
            <a:off x="305" y="10"/>
            <a:ext cx="12191695" cy="6857990"/>
          </a:xfrm>
          <a:prstGeom prst="rect">
            <a:avLst/>
          </a:prstGeom>
        </p:spPr>
      </p:pic>
      <p:cxnSp>
        <p:nvCxnSpPr>
          <p:cNvPr id="11" name="Straight Connector 10">
            <a:extLst>
              <a:ext uri="{FF2B5EF4-FFF2-40B4-BE49-F238E27FC236}">
                <a16:creationId xmlns:a16="http://schemas.microsoft.com/office/drawing/2014/main" id="{17FD20E5-30AF-47B9-9256-2E8E904CBBC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453896" y="1847088"/>
            <a:ext cx="9607523" cy="0"/>
          </a:xfrm>
          <a:prstGeom prst="line">
            <a:avLst/>
          </a:prstGeom>
          <a:ln w="31750"/>
        </p:spPr>
        <p:style>
          <a:lnRef idx="3">
            <a:schemeClr val="accent1"/>
          </a:lnRef>
          <a:fillRef idx="0">
            <a:schemeClr val="accent1"/>
          </a:fillRef>
          <a:effectRef idx="2">
            <a:schemeClr val="accent1"/>
          </a:effectRef>
          <a:fontRef idx="minor">
            <a:schemeClr val="tx1"/>
          </a:fontRef>
        </p:style>
      </p:cxnSp>
      <p:sp>
        <p:nvSpPr>
          <p:cNvPr id="13" name="Rectangle 12">
            <a:extLst>
              <a:ext uri="{FF2B5EF4-FFF2-40B4-BE49-F238E27FC236}">
                <a16:creationId xmlns:a16="http://schemas.microsoft.com/office/drawing/2014/main" id="{279D3810-B86F-4009-84EC-DE0FEABD6F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019476"/>
            <a:ext cx="12192000" cy="4105941"/>
          </a:xfrm>
          <a:prstGeom prst="rect">
            <a:avLst/>
          </a:prstGeom>
          <a:gradFill flip="none" rotWithShape="1">
            <a:gsLst>
              <a:gs pos="0">
                <a:schemeClr val="bg2">
                  <a:alpha val="0"/>
                </a:schemeClr>
              </a:gs>
              <a:gs pos="100000">
                <a:schemeClr val="bg2">
                  <a:alpha val="8000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3D36755F-C390-0CAF-7F31-92568C1D8E05}"/>
              </a:ext>
            </a:extLst>
          </p:cNvPr>
          <p:cNvSpPr>
            <a:spLocks noGrp="1"/>
          </p:cNvSpPr>
          <p:nvPr>
            <p:ph idx="1"/>
          </p:nvPr>
        </p:nvSpPr>
        <p:spPr>
          <a:xfrm>
            <a:off x="1251285" y="1360406"/>
            <a:ext cx="9803570" cy="4105940"/>
          </a:xfrm>
        </p:spPr>
        <p:txBody>
          <a:bodyPr>
            <a:normAutofit/>
          </a:bodyPr>
          <a:lstStyle/>
          <a:p>
            <a:pPr>
              <a:buFont typeface="Wingdings" panose="05000000000000000000" pitchFamily="2" charset="2"/>
              <a:buChar char="Ø"/>
            </a:pPr>
            <a:r>
              <a:rPr lang="en-US" dirty="0"/>
              <a:t>Project Objective</a:t>
            </a:r>
          </a:p>
          <a:p>
            <a:endParaRPr lang="en-US" dirty="0"/>
          </a:p>
          <a:p>
            <a:r>
              <a:rPr lang="en-IN" dirty="0"/>
              <a:t>Build an AI-powered assistant that provides disaster preparedness guidance and answers medical emergency-related questions.</a:t>
            </a:r>
          </a:p>
          <a:p>
            <a:endParaRPr lang="en-IN" dirty="0"/>
          </a:p>
          <a:p>
            <a:r>
              <a:rPr lang="en-IN" dirty="0"/>
              <a:t>The system retrieves information from verified documents and generates clear, safety-focused responses using Gemini 2.5 Flash.</a:t>
            </a:r>
          </a:p>
          <a:p>
            <a:endParaRPr lang="en-US" dirty="0"/>
          </a:p>
        </p:txBody>
      </p:sp>
      <p:pic>
        <p:nvPicPr>
          <p:cNvPr id="15" name="Picture 14">
            <a:extLst>
              <a:ext uri="{FF2B5EF4-FFF2-40B4-BE49-F238E27FC236}">
                <a16:creationId xmlns:a16="http://schemas.microsoft.com/office/drawing/2014/main" id="{C33612A4-0B77-4479-B2AA-F178599550AA}"/>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cxnSp>
        <p:nvCxnSpPr>
          <p:cNvPr id="17" name="Straight Connector 16">
            <a:extLst>
              <a:ext uri="{FF2B5EF4-FFF2-40B4-BE49-F238E27FC236}">
                <a16:creationId xmlns:a16="http://schemas.microsoft.com/office/drawing/2014/main" id="{078A367A-3E83-4B48-A0F7-43FBE33328F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503686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D0F073-431F-D4A8-2D1C-750A1CA9513F}"/>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884DD5C2-2B66-D7CB-F974-86B4C82EF61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2716" y="1184786"/>
            <a:ext cx="1335392" cy="1411018"/>
          </a:xfrm>
          <a:prstGeom prst="rect">
            <a:avLst/>
          </a:prstGeom>
        </p:spPr>
      </p:pic>
      <p:pic>
        <p:nvPicPr>
          <p:cNvPr id="6" name="Picture 5">
            <a:extLst>
              <a:ext uri="{FF2B5EF4-FFF2-40B4-BE49-F238E27FC236}">
                <a16:creationId xmlns:a16="http://schemas.microsoft.com/office/drawing/2014/main" id="{771DFE8A-4F82-A259-DC89-C9FF631F5EE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72277" y="1184786"/>
            <a:ext cx="1411018" cy="1411018"/>
          </a:xfrm>
          <a:prstGeom prst="rect">
            <a:avLst/>
          </a:prstGeom>
        </p:spPr>
      </p:pic>
      <p:pic>
        <p:nvPicPr>
          <p:cNvPr id="8" name="Picture 7">
            <a:extLst>
              <a:ext uri="{FF2B5EF4-FFF2-40B4-BE49-F238E27FC236}">
                <a16:creationId xmlns:a16="http://schemas.microsoft.com/office/drawing/2014/main" id="{E21A86AA-D85D-9511-D708-B5B00BEB2D1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25935" y="1184786"/>
            <a:ext cx="1411018" cy="1411018"/>
          </a:xfrm>
          <a:prstGeom prst="rect">
            <a:avLst/>
          </a:prstGeom>
        </p:spPr>
      </p:pic>
      <p:sp>
        <p:nvSpPr>
          <p:cNvPr id="9" name="TextBox 8">
            <a:extLst>
              <a:ext uri="{FF2B5EF4-FFF2-40B4-BE49-F238E27FC236}">
                <a16:creationId xmlns:a16="http://schemas.microsoft.com/office/drawing/2014/main" id="{E372F2DC-635F-3E88-F2F2-6E7335C857E7}"/>
              </a:ext>
            </a:extLst>
          </p:cNvPr>
          <p:cNvSpPr txBox="1"/>
          <p:nvPr/>
        </p:nvSpPr>
        <p:spPr>
          <a:xfrm>
            <a:off x="346545" y="749808"/>
            <a:ext cx="1197864" cy="369332"/>
          </a:xfrm>
          <a:prstGeom prst="rect">
            <a:avLst/>
          </a:prstGeom>
          <a:noFill/>
        </p:spPr>
        <p:txBody>
          <a:bodyPr wrap="square" rtlCol="0">
            <a:spAutoFit/>
          </a:bodyPr>
          <a:lstStyle/>
          <a:p>
            <a:r>
              <a:rPr lang="en-US" dirty="0"/>
              <a:t>app.py</a:t>
            </a:r>
            <a:endParaRPr lang="en-IN" dirty="0"/>
          </a:p>
        </p:txBody>
      </p:sp>
      <p:sp>
        <p:nvSpPr>
          <p:cNvPr id="11" name="TextBox 10">
            <a:extLst>
              <a:ext uri="{FF2B5EF4-FFF2-40B4-BE49-F238E27FC236}">
                <a16:creationId xmlns:a16="http://schemas.microsoft.com/office/drawing/2014/main" id="{F4444EE0-22F3-4732-6CA0-52CABBEBAB6F}"/>
              </a:ext>
            </a:extLst>
          </p:cNvPr>
          <p:cNvSpPr txBox="1"/>
          <p:nvPr/>
        </p:nvSpPr>
        <p:spPr>
          <a:xfrm>
            <a:off x="1780045" y="749808"/>
            <a:ext cx="983924" cy="369332"/>
          </a:xfrm>
          <a:prstGeom prst="rect">
            <a:avLst/>
          </a:prstGeom>
          <a:noFill/>
        </p:spPr>
        <p:txBody>
          <a:bodyPr wrap="none" rtlCol="0">
            <a:spAutoFit/>
          </a:bodyPr>
          <a:lstStyle/>
          <a:p>
            <a:r>
              <a:rPr lang="en-US" dirty="0"/>
              <a:t>main.py</a:t>
            </a:r>
            <a:endParaRPr lang="en-IN" dirty="0"/>
          </a:p>
        </p:txBody>
      </p:sp>
      <p:pic>
        <p:nvPicPr>
          <p:cNvPr id="13" name="Picture 12">
            <a:extLst>
              <a:ext uri="{FF2B5EF4-FFF2-40B4-BE49-F238E27FC236}">
                <a16:creationId xmlns:a16="http://schemas.microsoft.com/office/drawing/2014/main" id="{718C2F05-1F9F-4A23-C0F9-28552CCAFEC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13054" y="1184786"/>
            <a:ext cx="1411018" cy="1411018"/>
          </a:xfrm>
          <a:prstGeom prst="rect">
            <a:avLst/>
          </a:prstGeom>
        </p:spPr>
      </p:pic>
      <p:sp>
        <p:nvSpPr>
          <p:cNvPr id="14" name="TextBox 13">
            <a:extLst>
              <a:ext uri="{FF2B5EF4-FFF2-40B4-BE49-F238E27FC236}">
                <a16:creationId xmlns:a16="http://schemas.microsoft.com/office/drawing/2014/main" id="{596E3CBB-BD48-98E3-B3F4-5E7B39E80398}"/>
              </a:ext>
            </a:extLst>
          </p:cNvPr>
          <p:cNvSpPr txBox="1"/>
          <p:nvPr/>
        </p:nvSpPr>
        <p:spPr>
          <a:xfrm>
            <a:off x="3316571" y="758952"/>
            <a:ext cx="1086003" cy="369332"/>
          </a:xfrm>
          <a:prstGeom prst="rect">
            <a:avLst/>
          </a:prstGeom>
          <a:noFill/>
        </p:spPr>
        <p:txBody>
          <a:bodyPr wrap="none" rtlCol="0">
            <a:spAutoFit/>
          </a:bodyPr>
          <a:lstStyle/>
          <a:p>
            <a:r>
              <a:rPr lang="en-US" dirty="0"/>
              <a:t>Safety.py</a:t>
            </a:r>
            <a:endParaRPr lang="en-IN" dirty="0"/>
          </a:p>
        </p:txBody>
      </p:sp>
      <p:sp>
        <p:nvSpPr>
          <p:cNvPr id="15" name="TextBox 14">
            <a:extLst>
              <a:ext uri="{FF2B5EF4-FFF2-40B4-BE49-F238E27FC236}">
                <a16:creationId xmlns:a16="http://schemas.microsoft.com/office/drawing/2014/main" id="{DEC7AD97-6CA3-F2C4-D199-B1672415EE39}"/>
              </a:ext>
            </a:extLst>
          </p:cNvPr>
          <p:cNvSpPr txBox="1"/>
          <p:nvPr/>
        </p:nvSpPr>
        <p:spPr>
          <a:xfrm>
            <a:off x="4705140" y="738697"/>
            <a:ext cx="1826847" cy="369332"/>
          </a:xfrm>
          <a:prstGeom prst="rect">
            <a:avLst/>
          </a:prstGeom>
          <a:noFill/>
        </p:spPr>
        <p:txBody>
          <a:bodyPr wrap="none" rtlCol="0">
            <a:spAutoFit/>
          </a:bodyPr>
          <a:lstStyle/>
          <a:p>
            <a:r>
              <a:rPr lang="en-IN" dirty="0"/>
              <a:t>requirements</a:t>
            </a:r>
            <a:r>
              <a:rPr lang="en-US" dirty="0"/>
              <a:t>.txt</a:t>
            </a:r>
            <a:endParaRPr lang="en-IN" dirty="0"/>
          </a:p>
        </p:txBody>
      </p:sp>
      <p:sp>
        <p:nvSpPr>
          <p:cNvPr id="16" name="TextBox 15">
            <a:extLst>
              <a:ext uri="{FF2B5EF4-FFF2-40B4-BE49-F238E27FC236}">
                <a16:creationId xmlns:a16="http://schemas.microsoft.com/office/drawing/2014/main" id="{8026BD04-F281-12BD-C19B-C1C0DB5A1F58}"/>
              </a:ext>
            </a:extLst>
          </p:cNvPr>
          <p:cNvSpPr txBox="1"/>
          <p:nvPr/>
        </p:nvSpPr>
        <p:spPr>
          <a:xfrm>
            <a:off x="360764" y="292608"/>
            <a:ext cx="4910328" cy="369332"/>
          </a:xfrm>
          <a:prstGeom prst="rect">
            <a:avLst/>
          </a:prstGeom>
          <a:noFill/>
        </p:spPr>
        <p:txBody>
          <a:bodyPr wrap="square" rtlCol="0">
            <a:spAutoFit/>
          </a:bodyPr>
          <a:lstStyle/>
          <a:p>
            <a:r>
              <a:rPr lang="en-US" dirty="0"/>
              <a:t>Project structure</a:t>
            </a:r>
            <a:endParaRPr lang="en-IN" dirty="0"/>
          </a:p>
        </p:txBody>
      </p:sp>
      <p:sp>
        <p:nvSpPr>
          <p:cNvPr id="17" name="TextBox 16">
            <a:extLst>
              <a:ext uri="{FF2B5EF4-FFF2-40B4-BE49-F238E27FC236}">
                <a16:creationId xmlns:a16="http://schemas.microsoft.com/office/drawing/2014/main" id="{22144823-53C9-5FE9-F59E-098CEE503513}"/>
              </a:ext>
            </a:extLst>
          </p:cNvPr>
          <p:cNvSpPr txBox="1"/>
          <p:nvPr/>
        </p:nvSpPr>
        <p:spPr>
          <a:xfrm>
            <a:off x="272716" y="2951747"/>
            <a:ext cx="11470105" cy="3693319"/>
          </a:xfrm>
          <a:prstGeom prst="rect">
            <a:avLst/>
          </a:prstGeom>
          <a:noFill/>
        </p:spPr>
        <p:txBody>
          <a:bodyPr wrap="square" rtlCol="0">
            <a:spAutoFit/>
          </a:bodyPr>
          <a:lstStyle/>
          <a:p>
            <a:r>
              <a:rPr lang="en-IN" b="1" dirty="0"/>
              <a:t>app.py</a:t>
            </a:r>
            <a:endParaRPr lang="en-IN" dirty="0"/>
          </a:p>
          <a:p>
            <a:r>
              <a:rPr lang="en-IN" dirty="0"/>
              <a:t>User Interface Layer responsible for chatbot interaction, accepting user queries, and displaying generated responses.</a:t>
            </a:r>
          </a:p>
          <a:p>
            <a:endParaRPr lang="en-IN" b="1" dirty="0"/>
          </a:p>
          <a:p>
            <a:r>
              <a:rPr lang="en-IN" b="1" dirty="0"/>
              <a:t>main.py</a:t>
            </a:r>
            <a:endParaRPr lang="en-IN" dirty="0"/>
          </a:p>
          <a:p>
            <a:r>
              <a:rPr lang="en-IN" dirty="0"/>
              <a:t>Core AI processing layer responsible for Gemini integration, prompt handling, and response generation.</a:t>
            </a:r>
          </a:p>
          <a:p>
            <a:endParaRPr lang="en-IN" b="1" dirty="0"/>
          </a:p>
          <a:p>
            <a:r>
              <a:rPr lang="en-IN" b="1" dirty="0"/>
              <a:t>safety.py</a:t>
            </a:r>
            <a:endParaRPr lang="en-IN" dirty="0"/>
          </a:p>
          <a:p>
            <a:r>
              <a:rPr lang="en-IN" dirty="0"/>
              <a:t>Content moderation layer responsible for inappropriate word filtering and user input validation.</a:t>
            </a:r>
          </a:p>
          <a:p>
            <a:endParaRPr lang="en-IN" b="1" dirty="0"/>
          </a:p>
          <a:p>
            <a:r>
              <a:rPr lang="en-IN" b="1" dirty="0"/>
              <a:t>requirements.txt</a:t>
            </a:r>
            <a:endParaRPr lang="en-IN" dirty="0"/>
          </a:p>
          <a:p>
            <a:r>
              <a:rPr lang="en-IN" dirty="0"/>
              <a:t>Contains required Python dependencies for installation and deployment.</a:t>
            </a:r>
          </a:p>
          <a:p>
            <a:endParaRPr lang="en-US" dirty="0"/>
          </a:p>
        </p:txBody>
      </p:sp>
    </p:spTree>
    <p:extLst>
      <p:ext uri="{BB962C8B-B14F-4D97-AF65-F5344CB8AC3E}">
        <p14:creationId xmlns:p14="http://schemas.microsoft.com/office/powerpoint/2010/main" val="8265344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a:extLst>
            <a:ext uri="{FF2B5EF4-FFF2-40B4-BE49-F238E27FC236}">
              <a16:creationId xmlns:a16="http://schemas.microsoft.com/office/drawing/2014/main" id="{35CBB9AC-17B9-5AB6-741A-0403FC2F5C9E}"/>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2D32A60-013B-47A8-8833-D242408091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AE27932B-B694-4C4C-90D7-A0333A7C58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cxnSp>
        <p:nvCxnSpPr>
          <p:cNvPr id="13" name="Straight Connector 12">
            <a:extLst>
              <a:ext uri="{FF2B5EF4-FFF2-40B4-BE49-F238E27FC236}">
                <a16:creationId xmlns:a16="http://schemas.microsoft.com/office/drawing/2014/main" id="{9EBB0476-5CF0-4F44-8D68-5D42D7AEE43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451579" y="2146542"/>
            <a:ext cx="3272094" cy="0"/>
          </a:xfrm>
          <a:prstGeom prst="line">
            <a:avLst/>
          </a:prstGeom>
          <a:ln w="31750"/>
        </p:spPr>
        <p:style>
          <a:lnRef idx="3">
            <a:schemeClr val="accent1"/>
          </a:lnRef>
          <a:fillRef idx="0">
            <a:schemeClr val="accent1"/>
          </a:fillRef>
          <a:effectRef idx="2">
            <a:schemeClr val="accent1"/>
          </a:effectRef>
          <a:fontRef idx="minor">
            <a:schemeClr val="tx1"/>
          </a:fontRef>
        </p:style>
      </p:cxnSp>
      <p:sp>
        <p:nvSpPr>
          <p:cNvPr id="15" name="Title 1">
            <a:extLst>
              <a:ext uri="{FF2B5EF4-FFF2-40B4-BE49-F238E27FC236}">
                <a16:creationId xmlns:a16="http://schemas.microsoft.com/office/drawing/2014/main" id="{A9DA474E-6B91-4200-840F-0257B2358A75}"/>
              </a:ext>
              <a:ext uri="{C183D7F6-B498-43B3-948B-1728B52AA6E4}">
                <adec:decorative xmlns:adec="http://schemas.microsoft.com/office/drawing/2017/decorative" val="1"/>
              </a:ext>
            </a:extLst>
          </p:cNvPr>
          <p:cNvSpPr txBox="1">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51580" y="3122496"/>
            <a:ext cx="3530157" cy="1049235"/>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a:lstStyle>
          <a:p>
            <a:endParaRPr lang="en-US" dirty="0"/>
          </a:p>
        </p:txBody>
      </p:sp>
      <p:pic>
        <p:nvPicPr>
          <p:cNvPr id="17" name="Picture 16">
            <a:extLst>
              <a:ext uri="{FF2B5EF4-FFF2-40B4-BE49-F238E27FC236}">
                <a16:creationId xmlns:a16="http://schemas.microsoft.com/office/drawing/2014/main" id="{DF63C9AD-AE6E-4512-8171-91612E84CCF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cxnSp>
        <p:nvCxnSpPr>
          <p:cNvPr id="19" name="Straight Connector 18">
            <a:extLst>
              <a:ext uri="{FF2B5EF4-FFF2-40B4-BE49-F238E27FC236}">
                <a16:creationId xmlns:a16="http://schemas.microsoft.com/office/drawing/2014/main" id="{FE1A49CE-B63D-457A-A180-1C883E1A63D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graphicFrame>
        <p:nvGraphicFramePr>
          <p:cNvPr id="5" name="Content Placeholder 2">
            <a:extLst>
              <a:ext uri="{FF2B5EF4-FFF2-40B4-BE49-F238E27FC236}">
                <a16:creationId xmlns:a16="http://schemas.microsoft.com/office/drawing/2014/main" id="{3A12FBD2-6494-B6C7-CBD1-61B1937D5AA3}"/>
              </a:ext>
            </a:extLst>
          </p:cNvPr>
          <p:cNvGraphicFramePr>
            <a:graphicFrameLocks noGrp="1"/>
          </p:cNvGraphicFramePr>
          <p:nvPr>
            <p:ph idx="1"/>
            <p:extLst>
              <p:ext uri="{D42A27DB-BD31-4B8C-83A1-F6EECF244321}">
                <p14:modId xmlns:p14="http://schemas.microsoft.com/office/powerpoint/2010/main" val="1995147449"/>
              </p:ext>
            </p:extLst>
          </p:nvPr>
        </p:nvGraphicFramePr>
        <p:xfrm>
          <a:off x="5141913" y="803275"/>
          <a:ext cx="5913437" cy="463708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pSp>
        <p:nvGrpSpPr>
          <p:cNvPr id="24" name="Group 23">
            <a:extLst>
              <a:ext uri="{FF2B5EF4-FFF2-40B4-BE49-F238E27FC236}">
                <a16:creationId xmlns:a16="http://schemas.microsoft.com/office/drawing/2014/main" id="{DF7E8A90-514B-FEC9-9C14-7C6DA8C284D9}"/>
              </a:ext>
            </a:extLst>
          </p:cNvPr>
          <p:cNvGrpSpPr/>
          <p:nvPr/>
        </p:nvGrpSpPr>
        <p:grpSpPr>
          <a:xfrm>
            <a:off x="892779" y="2518327"/>
            <a:ext cx="3530157" cy="486415"/>
            <a:chOff x="0" y="133703"/>
            <a:chExt cx="5913437" cy="795600"/>
          </a:xfrm>
        </p:grpSpPr>
        <p:sp>
          <p:nvSpPr>
            <p:cNvPr id="26" name="Rectangle: Rounded Corners 25">
              <a:extLst>
                <a:ext uri="{FF2B5EF4-FFF2-40B4-BE49-F238E27FC236}">
                  <a16:creationId xmlns:a16="http://schemas.microsoft.com/office/drawing/2014/main" id="{993C6FAB-481E-830B-E36E-73665461F0CA}"/>
                </a:ext>
              </a:extLst>
            </p:cNvPr>
            <p:cNvSpPr/>
            <p:nvPr/>
          </p:nvSpPr>
          <p:spPr>
            <a:xfrm>
              <a:off x="0" y="133703"/>
              <a:ext cx="5913437" cy="795600"/>
            </a:xfrm>
            <a:prstGeom prst="roundRect">
              <a:avLst/>
            </a:prstGeom>
          </p:spPr>
          <p:style>
            <a:lnRef idx="0">
              <a:schemeClr val="lt1">
                <a:hueOff val="0"/>
                <a:satOff val="0"/>
                <a:lumOff val="0"/>
                <a:alphaOff val="0"/>
              </a:schemeClr>
            </a:lnRef>
            <a:fillRef idx="3">
              <a:schemeClr val="accent5">
                <a:hueOff val="0"/>
                <a:satOff val="0"/>
                <a:lumOff val="0"/>
                <a:alphaOff val="0"/>
              </a:schemeClr>
            </a:fillRef>
            <a:effectRef idx="2">
              <a:schemeClr val="accent5">
                <a:hueOff val="0"/>
                <a:satOff val="0"/>
                <a:lumOff val="0"/>
                <a:alphaOff val="0"/>
              </a:schemeClr>
            </a:effectRef>
            <a:fontRef idx="minor">
              <a:schemeClr val="lt1"/>
            </a:fontRef>
          </p:style>
          <p:txBody>
            <a:bodyPr/>
            <a:lstStyle/>
            <a:p>
              <a:endParaRPr lang="en-IN"/>
            </a:p>
          </p:txBody>
        </p:sp>
        <p:sp>
          <p:nvSpPr>
            <p:cNvPr id="30" name="Rectangle: Rounded Corners 4">
              <a:extLst>
                <a:ext uri="{FF2B5EF4-FFF2-40B4-BE49-F238E27FC236}">
                  <a16:creationId xmlns:a16="http://schemas.microsoft.com/office/drawing/2014/main" id="{3F17CFC7-E62A-7F52-0EBB-2EAA8626BC1A}"/>
                </a:ext>
              </a:extLst>
            </p:cNvPr>
            <p:cNvSpPr txBox="1"/>
            <p:nvPr/>
          </p:nvSpPr>
          <p:spPr>
            <a:xfrm>
              <a:off x="38838" y="172541"/>
              <a:ext cx="5835761" cy="717924"/>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29540" tIns="129540" rIns="129540" bIns="129540" numCol="1" spcCol="1270" anchor="ctr" anchorCtr="0">
              <a:noAutofit/>
            </a:bodyPr>
            <a:lstStyle/>
            <a:p>
              <a:pPr marL="0" lvl="0" indent="0" algn="l" defTabSz="1511300">
                <a:lnSpc>
                  <a:spcPct val="90000"/>
                </a:lnSpc>
                <a:spcBef>
                  <a:spcPct val="0"/>
                </a:spcBef>
                <a:spcAft>
                  <a:spcPct val="35000"/>
                </a:spcAft>
                <a:buNone/>
              </a:pPr>
              <a:r>
                <a:rPr lang="en-IN" sz="3400" kern="1200" dirty="0"/>
                <a:t>Technology Stack</a:t>
              </a:r>
              <a:endParaRPr lang="en-US" sz="3400" kern="1200" dirty="0"/>
            </a:p>
          </p:txBody>
        </p:sp>
      </p:grpSp>
    </p:spTree>
    <p:extLst>
      <p:ext uri="{BB962C8B-B14F-4D97-AF65-F5344CB8AC3E}">
        <p14:creationId xmlns:p14="http://schemas.microsoft.com/office/powerpoint/2010/main" val="24411337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CAE624-EA4E-BD26-7010-48F36F1C868C}"/>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4384D4C7-F99E-0C8B-037F-EDFED400EF1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00286" y="832585"/>
            <a:ext cx="5633988" cy="5192829"/>
          </a:xfrm>
          <a:prstGeom prst="rect">
            <a:avLst/>
          </a:prstGeom>
        </p:spPr>
      </p:pic>
      <p:pic>
        <p:nvPicPr>
          <p:cNvPr id="7" name="Picture 6">
            <a:extLst>
              <a:ext uri="{FF2B5EF4-FFF2-40B4-BE49-F238E27FC236}">
                <a16:creationId xmlns:a16="http://schemas.microsoft.com/office/drawing/2014/main" id="{9AC89E35-3859-5841-680B-754296A29E0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2716" y="999423"/>
            <a:ext cx="4409173" cy="1714901"/>
          </a:xfrm>
          <a:prstGeom prst="rect">
            <a:avLst/>
          </a:prstGeom>
        </p:spPr>
      </p:pic>
      <p:sp>
        <p:nvSpPr>
          <p:cNvPr id="10" name="TextBox 9">
            <a:extLst>
              <a:ext uri="{FF2B5EF4-FFF2-40B4-BE49-F238E27FC236}">
                <a16:creationId xmlns:a16="http://schemas.microsoft.com/office/drawing/2014/main" id="{EF80185B-0E7F-722A-7A8E-DF5931819563}"/>
              </a:ext>
            </a:extLst>
          </p:cNvPr>
          <p:cNvSpPr txBox="1"/>
          <p:nvPr/>
        </p:nvSpPr>
        <p:spPr>
          <a:xfrm>
            <a:off x="1133855" y="374904"/>
            <a:ext cx="2112265" cy="369332"/>
          </a:xfrm>
          <a:prstGeom prst="rect">
            <a:avLst/>
          </a:prstGeom>
          <a:noFill/>
        </p:spPr>
        <p:txBody>
          <a:bodyPr wrap="square" rtlCol="0">
            <a:spAutoFit/>
          </a:bodyPr>
          <a:lstStyle/>
          <a:p>
            <a:r>
              <a:rPr lang="en-US" dirty="0"/>
              <a:t>Frontend app image </a:t>
            </a:r>
            <a:endParaRPr lang="en-IN" dirty="0"/>
          </a:p>
        </p:txBody>
      </p:sp>
      <p:sp>
        <p:nvSpPr>
          <p:cNvPr id="11" name="TextBox 10">
            <a:extLst>
              <a:ext uri="{FF2B5EF4-FFF2-40B4-BE49-F238E27FC236}">
                <a16:creationId xmlns:a16="http://schemas.microsoft.com/office/drawing/2014/main" id="{3A547DB9-62BE-8653-B96E-A4E7F4D548AC}"/>
              </a:ext>
            </a:extLst>
          </p:cNvPr>
          <p:cNvSpPr txBox="1"/>
          <p:nvPr/>
        </p:nvSpPr>
        <p:spPr>
          <a:xfrm>
            <a:off x="7885176" y="190238"/>
            <a:ext cx="1664208" cy="369332"/>
          </a:xfrm>
          <a:prstGeom prst="rect">
            <a:avLst/>
          </a:prstGeom>
          <a:noFill/>
        </p:spPr>
        <p:txBody>
          <a:bodyPr wrap="square" rtlCol="0">
            <a:spAutoFit/>
          </a:bodyPr>
          <a:lstStyle/>
          <a:p>
            <a:r>
              <a:rPr lang="en-US" dirty="0"/>
              <a:t>Testing image </a:t>
            </a:r>
            <a:endParaRPr lang="en-IN" dirty="0"/>
          </a:p>
        </p:txBody>
      </p:sp>
      <p:sp>
        <p:nvSpPr>
          <p:cNvPr id="12" name="TextBox 11">
            <a:extLst>
              <a:ext uri="{FF2B5EF4-FFF2-40B4-BE49-F238E27FC236}">
                <a16:creationId xmlns:a16="http://schemas.microsoft.com/office/drawing/2014/main" id="{9DD0AD64-D5E5-15C9-5B4B-146FA56022DE}"/>
              </a:ext>
            </a:extLst>
          </p:cNvPr>
          <p:cNvSpPr txBox="1"/>
          <p:nvPr/>
        </p:nvSpPr>
        <p:spPr>
          <a:xfrm>
            <a:off x="166838" y="2714324"/>
            <a:ext cx="5454315" cy="3416320"/>
          </a:xfrm>
          <a:prstGeom prst="rect">
            <a:avLst/>
          </a:prstGeom>
          <a:noFill/>
        </p:spPr>
        <p:txBody>
          <a:bodyPr wrap="square" rtlCol="0">
            <a:spAutoFit/>
          </a:bodyPr>
          <a:lstStyle/>
          <a:p>
            <a:pPr marL="285750" indent="-285750">
              <a:buFont typeface="Wingdings" panose="05000000000000000000" pitchFamily="2" charset="2"/>
              <a:buChar char="Ø"/>
            </a:pPr>
            <a:r>
              <a:rPr lang="en-IN" b="1" dirty="0"/>
              <a:t>Frontend Interface &amp; Output Testing</a:t>
            </a:r>
          </a:p>
          <a:p>
            <a:endParaRPr lang="en-IN" b="1" dirty="0"/>
          </a:p>
          <a:p>
            <a:pPr marL="285750" indent="-285750">
              <a:buFont typeface="Arial" panose="020B0604020202020204" pitchFamily="34" charset="0"/>
              <a:buChar char="•"/>
            </a:pPr>
            <a:r>
              <a:rPr lang="en-IN" b="1" dirty="0"/>
              <a:t>Frontend Interface</a:t>
            </a:r>
            <a:endParaRPr lang="en-IN" dirty="0"/>
          </a:p>
          <a:p>
            <a:r>
              <a:rPr lang="en-IN" dirty="0"/>
              <a:t>Developed using Streamlit for user interaction. </a:t>
            </a:r>
          </a:p>
          <a:p>
            <a:r>
              <a:rPr lang="en-IN" dirty="0"/>
              <a:t>Provides a simple chatbot interface for asking disaster and medical emergency-related questions. </a:t>
            </a:r>
          </a:p>
          <a:p>
            <a:endParaRPr lang="en-IN" b="1" dirty="0"/>
          </a:p>
          <a:p>
            <a:pPr marL="285750" indent="-285750">
              <a:buFont typeface="Arial" panose="020B0604020202020204" pitchFamily="34" charset="0"/>
              <a:buChar char="•"/>
            </a:pPr>
            <a:r>
              <a:rPr lang="en-IN" b="1" dirty="0"/>
              <a:t>Output Testing</a:t>
            </a:r>
            <a:endParaRPr lang="en-IN" dirty="0"/>
          </a:p>
          <a:p>
            <a:r>
              <a:rPr lang="en-IN" dirty="0"/>
              <a:t>The chatbot successfully generates safety-focused responses using Google Gemini 2.5 Flash. </a:t>
            </a:r>
          </a:p>
          <a:p>
            <a:r>
              <a:rPr lang="en-IN" dirty="0"/>
              <a:t>Tested with different emergency-related queries to evaluate response quality.</a:t>
            </a:r>
          </a:p>
        </p:txBody>
      </p:sp>
      <p:sp>
        <p:nvSpPr>
          <p:cNvPr id="2" name="TextBox 1">
            <a:extLst>
              <a:ext uri="{FF2B5EF4-FFF2-40B4-BE49-F238E27FC236}">
                <a16:creationId xmlns:a16="http://schemas.microsoft.com/office/drawing/2014/main" id="{15377150-EFFB-EA6B-AF14-2604B10C636C}"/>
              </a:ext>
            </a:extLst>
          </p:cNvPr>
          <p:cNvSpPr txBox="1"/>
          <p:nvPr/>
        </p:nvSpPr>
        <p:spPr>
          <a:xfrm>
            <a:off x="4590288" y="190238"/>
            <a:ext cx="184731" cy="369332"/>
          </a:xfrm>
          <a:prstGeom prst="rect">
            <a:avLst/>
          </a:prstGeom>
          <a:noFill/>
        </p:spPr>
        <p:txBody>
          <a:bodyPr wrap="none" rtlCol="0">
            <a:spAutoFit/>
          </a:bodyPr>
          <a:lstStyle/>
          <a:p>
            <a:endParaRPr lang="en-IN" dirty="0"/>
          </a:p>
        </p:txBody>
      </p:sp>
    </p:spTree>
    <p:extLst>
      <p:ext uri="{BB962C8B-B14F-4D97-AF65-F5344CB8AC3E}">
        <p14:creationId xmlns:p14="http://schemas.microsoft.com/office/powerpoint/2010/main" val="15918890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a:extLst>
            <a:ext uri="{FF2B5EF4-FFF2-40B4-BE49-F238E27FC236}">
              <a16:creationId xmlns:a16="http://schemas.microsoft.com/office/drawing/2014/main" id="{826F4DEF-A081-F7D4-9311-8AE9E2C9D704}"/>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9726824-C958-FD29-15D4-961FDF4DFABD}"/>
              </a:ext>
            </a:extLst>
          </p:cNvPr>
          <p:cNvSpPr>
            <a:spLocks noGrp="1"/>
          </p:cNvSpPr>
          <p:nvPr>
            <p:ph idx="1"/>
          </p:nvPr>
        </p:nvSpPr>
        <p:spPr>
          <a:xfrm>
            <a:off x="1451579" y="1414914"/>
            <a:ext cx="6195784" cy="4051433"/>
          </a:xfrm>
        </p:spPr>
        <p:txBody>
          <a:bodyPr>
            <a:normAutofit/>
          </a:bodyPr>
          <a:lstStyle/>
          <a:p>
            <a:pPr>
              <a:buFont typeface="Wingdings" panose="05000000000000000000" pitchFamily="2" charset="2"/>
              <a:buChar char="Ø"/>
            </a:pPr>
            <a:r>
              <a:rPr lang="en-US" dirty="0"/>
              <a:t>Conclusion</a:t>
            </a:r>
          </a:p>
          <a:p>
            <a:pPr marL="0" indent="0">
              <a:buNone/>
            </a:pPr>
            <a:r>
              <a:rPr lang="en-IN" dirty="0"/>
              <a:t>Developed an AI-powered chatbot for disaster preparedness and medical emergency guidance. Uses Google Gemini 2.5 Flash to generate helpful and safety-focused responses. Provides a simple interface for users to access emergency information. Implements content filtering for safer interactions.</a:t>
            </a:r>
            <a:endParaRPr lang="en-US" dirty="0"/>
          </a:p>
        </p:txBody>
      </p:sp>
      <p:pic>
        <p:nvPicPr>
          <p:cNvPr id="7" name="Graphic 6" descr="Ambulance">
            <a:extLst>
              <a:ext uri="{FF2B5EF4-FFF2-40B4-BE49-F238E27FC236}">
                <a16:creationId xmlns:a16="http://schemas.microsoft.com/office/drawing/2014/main" id="{9D790C9C-DDAA-1146-8D45-D8E0D367C9A5}"/>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8128756" y="2277991"/>
            <a:ext cx="2926098" cy="2926098"/>
          </a:xfrm>
          <a:prstGeom prst="rect">
            <a:avLst/>
          </a:prstGeom>
        </p:spPr>
      </p:pic>
    </p:spTree>
    <p:extLst>
      <p:ext uri="{BB962C8B-B14F-4D97-AF65-F5344CB8AC3E}">
        <p14:creationId xmlns:p14="http://schemas.microsoft.com/office/powerpoint/2010/main" val="40789709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3CCD6A5-CA76-8416-DFBB-375EB9B7C637}"/>
              </a:ext>
            </a:extLst>
          </p:cNvPr>
          <p:cNvSpPr>
            <a:spLocks noGrp="1"/>
          </p:cNvSpPr>
          <p:nvPr>
            <p:ph idx="1"/>
          </p:nvPr>
        </p:nvSpPr>
        <p:spPr>
          <a:xfrm>
            <a:off x="208547" y="272716"/>
            <a:ext cx="11710737" cy="6336631"/>
          </a:xfrm>
        </p:spPr>
        <p:txBody>
          <a:bodyPr/>
          <a:lstStyle/>
          <a:p>
            <a:endParaRPr lang="en-US" dirty="0"/>
          </a:p>
          <a:p>
            <a:endParaRPr lang="en-US" dirty="0"/>
          </a:p>
          <a:p>
            <a:endParaRPr lang="en-US" dirty="0"/>
          </a:p>
          <a:p>
            <a:pPr marL="0" indent="0">
              <a:buNone/>
            </a:pPr>
            <a:endParaRPr lang="en-US" dirty="0"/>
          </a:p>
          <a:p>
            <a:pPr marL="0" indent="0">
              <a:buNone/>
            </a:pPr>
            <a:r>
              <a:rPr lang="en-US" sz="3600" dirty="0"/>
              <a:t>              Thank you </a:t>
            </a:r>
            <a:endParaRPr lang="en-IN" sz="3600" dirty="0"/>
          </a:p>
        </p:txBody>
      </p:sp>
    </p:spTree>
    <p:extLst>
      <p:ext uri="{BB962C8B-B14F-4D97-AF65-F5344CB8AC3E}">
        <p14:creationId xmlns:p14="http://schemas.microsoft.com/office/powerpoint/2010/main" val="2131735460"/>
      </p:ext>
    </p:extLst>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docProps/app.xml><?xml version="1.0" encoding="utf-8"?>
<Properties xmlns="http://schemas.openxmlformats.org/officeDocument/2006/extended-properties" xmlns:vt="http://schemas.openxmlformats.org/officeDocument/2006/docPropsVTypes">
  <Template>Gallery</Template>
  <TotalTime>130</TotalTime>
  <Words>316</Words>
  <Application>Microsoft Office PowerPoint</Application>
  <PresentationFormat>Widescreen</PresentationFormat>
  <Paragraphs>54</Paragraphs>
  <Slides>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Gill Sans MT</vt:lpstr>
      <vt:lpstr>Wingdings</vt:lpstr>
      <vt:lpstr>Gallery</vt:lpstr>
      <vt:lpstr>🛡️Disaster Shield AI</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Sumen Mallick</dc:creator>
  <cp:lastModifiedBy>Sumen Mallick</cp:lastModifiedBy>
  <cp:revision>15</cp:revision>
  <dcterms:created xsi:type="dcterms:W3CDTF">2026-06-30T15:12:22Z</dcterms:created>
  <dcterms:modified xsi:type="dcterms:W3CDTF">2026-07-01T14:17:23Z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defa4170-0d19-0005-0004-bc88714345d2_Enabled">
    <vt:lpwstr>true</vt:lpwstr>
  </property>
  <property fmtid="{D5CDD505-2E9C-101B-9397-08002B2CF9AE}" pid="3" name="MSIP_Label_defa4170-0d19-0005-0004-bc88714345d2_SetDate">
    <vt:lpwstr>2026-06-30T15:12:29Z</vt:lpwstr>
  </property>
  <property fmtid="{D5CDD505-2E9C-101B-9397-08002B2CF9AE}" pid="4" name="MSIP_Label_defa4170-0d19-0005-0004-bc88714345d2_Method">
    <vt:lpwstr>Standard</vt:lpwstr>
  </property>
  <property fmtid="{D5CDD505-2E9C-101B-9397-08002B2CF9AE}" pid="5" name="MSIP_Label_defa4170-0d19-0005-0004-bc88714345d2_Name">
    <vt:lpwstr>defa4170-0d19-0005-0004-bc88714345d2</vt:lpwstr>
  </property>
  <property fmtid="{D5CDD505-2E9C-101B-9397-08002B2CF9AE}" pid="6" name="MSIP_Label_defa4170-0d19-0005-0004-bc88714345d2_SiteId">
    <vt:lpwstr>ef9d5458-6ce5-4bb1-9bcd-bbd6d4513acb</vt:lpwstr>
  </property>
  <property fmtid="{D5CDD505-2E9C-101B-9397-08002B2CF9AE}" pid="7" name="MSIP_Label_defa4170-0d19-0005-0004-bc88714345d2_ActionId">
    <vt:lpwstr>ff06757b-e42d-43e6-bf4e-4af503fb13fd</vt:lpwstr>
  </property>
  <property fmtid="{D5CDD505-2E9C-101B-9397-08002B2CF9AE}" pid="8" name="MSIP_Label_defa4170-0d19-0005-0004-bc88714345d2_ContentBits">
    <vt:lpwstr>0</vt:lpwstr>
  </property>
  <property fmtid="{D5CDD505-2E9C-101B-9397-08002B2CF9AE}" pid="9" name="MSIP_Label_defa4170-0d19-0005-0004-bc88714345d2_Tag">
    <vt:lpwstr>10, 3, 0, 1</vt:lpwstr>
  </property>
</Properties>
</file>